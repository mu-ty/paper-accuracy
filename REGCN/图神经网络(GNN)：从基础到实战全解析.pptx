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6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大家好，欢迎参加本次关于图神经网络的分享。今天，我们将一起深入探讨图神经网络的核心概念、原理、主流模型、应用场景以及实战中的挑战与解决方案，希望能为大家带来一次全面而深入的学习体验。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七个部分。首先，我们会介绍GNN的核心定位和基础概念，然后深入讲解其核心原理——消息传递机制。接着，我们会详细剖析主流的GNN模型家族，包括GCN、GAT和RGCN等。之后，我们将探讨GNN在各个领域的典型应用场景，并以链接预测为例，展示一个完整的GNN工作流程。最后，我们会分析当前GNN面临的关键技术挑战及其解决方案，并进行总结和给出实战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现在，让我们进入第一部分：GNN的核心定位与基础概念。在这一部分，我们将了解什么是图神经网络，以及它所面临的核心挑战。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图神经网络。简单来说，GNN是一类专门处理图结构数据的深度学习模型。它的核心目标是学习图中节点、边甚至整个图的低维向量表示，也就是我们常说的embedding，同时保留图的拓扑结构和特征信息。从数学上讲，一个图可以表示为G = (V, E)，其中V代表节点集合，E代表边集合。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处理图数据带来了一系列独特的挑战。首先，图数据是非欧几里得结构的，节点连接不规则，没有固定的网格，这使得传统的CNN难以应用。其次，图数据强调实体间的关系，而不仅仅是实体本身的属性，普通的MLP模型会忽略这些重要的结构信息。此外，图的结构非常多样，有有向图、无向图、同构图、异构图、静态图和动态图等，单一的模型很难适配所有情况。最后，现实世界中的图数据规模往往非常庞大，包含百万甚至上亿的节点和边，这对计算效率提出了很高的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了解了基础概念和挑战后，我们进入第二部分，深入探讨GNN的核心原理——消息传递机制。这是理解所有GNN模型的关键。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NN的本质是消息传递范式。这个过程可以概括为三步：首先，每个节点会收集其邻居节点的消息；然后，节点根据收集到的消息来更新自身的特征表示；最后，通过多层网络的迭代，节点可以捕捉到更远距离（k-hop）邻居的信息。这个过程的数学表达如屏幕所示，其中包含了对邻居信息的聚合和自身特征的更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接下来，我们将详细介绍主流的GNN模型家族，看看它们是如何在消息传递的基础上进行创新和改进的。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首先是基础的GNN模型。图卷积网络（GCN）是其中的代表，它将复杂的谱域卷积简化为空间域的局部聚合，计算效率很高，非常适合节点分类任务。但它的局限在于只能处理无向图，并且忽略了边的类型信息。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为了解决这个问题，图注意力网络（GAT）被提出，它引入了注意力机制，可以为不同的邻居节点分配不同的权重，从而自适应地学习邻居的重要性，更适合处理异构信息网络。不过，GAT的计算复杂度相对较高。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处理知识图谱这类多关系数据时，关系图卷积网络（RGCN）表现出色。它的核心改进在于三点：首先，为每种关系类型分配独立的权重矩阵；其次，通过基分解或块分解等参数共享技术来减少模型参数，避免过拟合；最后，通过添加自环和反向关系来更好地处理有向图结构。这与我们之前看到的代码中的RGCNBasisLayer、RGCNBlockLayer和UnionRGCNLayer类是一一对应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了解了模型之后，我们来看一下GNN在实际中有哪些典型的应用场景。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知识图谱领域，GNN有三个核心应用。首先是链接预测，也就是预测知识图谱中缺失的三元组，这是RGCN的核心任务，我们通常用MRR和Hits@k等指标来评估模型性能，这对应了代码中的get_total_rank和filter_score函数。其次是实体分类，即预测实体的类型。最后是关系抽取，从文本中自动提取实体之间的关系，用于构建或补全知识图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知识图谱领域，GNN有三个核心应用。首先是链接预测，也就是预测知识图谱中缺失的三元组，这是RGCN的核心任务，我们通常用MRR和Hits@k等指标来评估模型性能，这对应了代码中的get_total_rank和filter_score函数。其次是实体分类，即预测实体的类型。最后是关系抽取，从文本中自动提取实体之间的关系，用于构建或补全知识图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知识图谱，GNN的应用范围非常广泛。在社交网络中，它可以用于用户兴趣分类、社区发现和好友推荐。在生物医疗领域，GNN在分子性质预测、蛋白质结构预测等方面取得了突破性进展。在金融科技领域，GNN可以帮助识别欺诈交易网络和进行更精准的信用评估。在推荐系统中，结合知识图谱的GNN模型能提供更具解释性的推荐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接下来，我们以链接预测任务为例，详细梳理一个完整的GNN工作流程，看看从数据准备到模型评估的每一步具体是如何操作的。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完整的工作流程首先是数据准备阶段。我们需要加载知识图谱数据集，构建DGL图结构，并预处理真实答案用于后续评估。然后是模型训练阶段，我们初始化RGCN模型，通过前向传播逐层执行卷积操作，并使用负采样损失来优化模型参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模型训练完成后，就进入了评估阶段。我们首先计算模型对所有实体的预测分数，然后通过答案过滤屏蔽掉已知的真实答案，以避免高估模型性能。接着，我们对预测分数进行排序，计算真实答案的排名，最后统计MRR和Hits@k等关键指标来评估模型的最终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尽管GNN取得了巨大成功，但它仍然面临一些关键的技术挑战。在这一部分，我们将探讨这些挑战以及现有的解决方案。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NN面临的核心挑战主要有三个：过平滑问题，即深层网络中节点的嵌入会变得越来越相似；计算复杂度问题，处理大规模图时效率低下；以及关系爆炸问题，在知识图谱中关系类型过多导致参数膨胀。针对这些问题，研究者们提出了一系列解决方案，比如使用残差连接和注意力机制来缓解过平滑，采用采样和子图划分来降低计算复杂度，以及通过参数共享和关系嵌入来应对关系爆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最后，我们对本次分享进行总结，并给出一些实战中的建议。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今天学习了GNN的核心是消息传递机制，RGCN是处理知识图谱的主流模型，在链接预测任务中必须进行答案过滤以确保评估的准确性，并且DGL这样的框架大大简化了GNN的开发流程。希望这次分享能帮助大家更好地理解和应用图神经网络。感谢大家的观看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5" Type="http://schemas.openxmlformats.org/officeDocument/2006/relationships/notesSlide" Target="../notesSlides/notesSlide2.xml"/><Relationship Id="rId44" Type="http://schemas.openxmlformats.org/officeDocument/2006/relationships/slideLayout" Target="../slideLayouts/slideLayout12.xml"/><Relationship Id="rId43" Type="http://schemas.openxmlformats.org/officeDocument/2006/relationships/tags" Target="../tags/tag28.xml"/><Relationship Id="rId42" Type="http://schemas.openxmlformats.org/officeDocument/2006/relationships/image" Target="../media/image16.svg"/><Relationship Id="rId41" Type="http://schemas.openxmlformats.org/officeDocument/2006/relationships/image" Target="../media/image15.png"/><Relationship Id="rId40" Type="http://schemas.openxmlformats.org/officeDocument/2006/relationships/tags" Target="../tags/tag27.xml"/><Relationship Id="rId4" Type="http://schemas.openxmlformats.org/officeDocument/2006/relationships/tags" Target="../tags/tag3.xml"/><Relationship Id="rId39" Type="http://schemas.openxmlformats.org/officeDocument/2006/relationships/tags" Target="../tags/tag26.xml"/><Relationship Id="rId38" Type="http://schemas.openxmlformats.org/officeDocument/2006/relationships/tags" Target="../tags/tag25.xml"/><Relationship Id="rId37" Type="http://schemas.openxmlformats.org/officeDocument/2006/relationships/tags" Target="../tags/tag24.xml"/><Relationship Id="rId36" Type="http://schemas.openxmlformats.org/officeDocument/2006/relationships/image" Target="../media/image14.svg"/><Relationship Id="rId35" Type="http://schemas.openxmlformats.org/officeDocument/2006/relationships/image" Target="../media/image13.png"/><Relationship Id="rId34" Type="http://schemas.openxmlformats.org/officeDocument/2006/relationships/tags" Target="../tags/tag23.xml"/><Relationship Id="rId33" Type="http://schemas.openxmlformats.org/officeDocument/2006/relationships/tags" Target="../tags/tag22.xml"/><Relationship Id="rId32" Type="http://schemas.openxmlformats.org/officeDocument/2006/relationships/tags" Target="../tags/tag21.xml"/><Relationship Id="rId31" Type="http://schemas.openxmlformats.org/officeDocument/2006/relationships/tags" Target="../tags/tag20.xml"/><Relationship Id="rId30" Type="http://schemas.openxmlformats.org/officeDocument/2006/relationships/image" Target="../media/image12.svg"/><Relationship Id="rId3" Type="http://schemas.openxmlformats.org/officeDocument/2006/relationships/tags" Target="../tags/tag2.xml"/><Relationship Id="rId29" Type="http://schemas.openxmlformats.org/officeDocument/2006/relationships/image" Target="../media/image11.png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tags" Target="../tags/tag17.xml"/><Relationship Id="rId25" Type="http://schemas.openxmlformats.org/officeDocument/2006/relationships/tags" Target="../tags/tag16.xml"/><Relationship Id="rId24" Type="http://schemas.openxmlformats.org/officeDocument/2006/relationships/image" Target="../media/image10.svg"/><Relationship Id="rId23" Type="http://schemas.openxmlformats.org/officeDocument/2006/relationships/image" Target="../media/image9.png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image" Target="../media/image8.svg"/><Relationship Id="rId17" Type="http://schemas.openxmlformats.org/officeDocument/2006/relationships/image" Target="../media/image7.png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tags" Target="../tags/tag30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35.svg"/><Relationship Id="rId20" Type="http://schemas.openxmlformats.org/officeDocument/2006/relationships/image" Target="../media/image34.png"/><Relationship Id="rId2" Type="http://schemas.openxmlformats.org/officeDocument/2006/relationships/tags" Target="../tags/tag29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image" Target="../media/image33.svg"/><Relationship Id="rId13" Type="http://schemas.openxmlformats.org/officeDocument/2006/relationships/image" Target="../media/image32.png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38.svg"/><Relationship Id="rId23" Type="http://schemas.openxmlformats.org/officeDocument/2006/relationships/notesSlide" Target="../notesSlides/notesSlide10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image" Target="../media/image37.png"/><Relationship Id="rId19" Type="http://schemas.openxmlformats.org/officeDocument/2006/relationships/image" Target="../media/image25.svg"/><Relationship Id="rId18" Type="http://schemas.openxmlformats.org/officeDocument/2006/relationships/image" Target="../media/image24.png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36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svg"/><Relationship Id="rId2" Type="http://schemas.openxmlformats.org/officeDocument/2006/relationships/image" Target="../media/image43.pn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5.svg"/><Relationship Id="rId6" Type="http://schemas.openxmlformats.org/officeDocument/2006/relationships/image" Target="../media/image45.png"/><Relationship Id="rId5" Type="http://schemas.openxmlformats.org/officeDocument/2006/relationships/image" Target="../media/image35.svg"/><Relationship Id="rId4" Type="http://schemas.openxmlformats.org/officeDocument/2006/relationships/image" Target="../media/image44.png"/><Relationship Id="rId3" Type="http://schemas.openxmlformats.org/officeDocument/2006/relationships/image" Target="../media/image6.svg"/><Relationship Id="rId2" Type="http://schemas.openxmlformats.org/officeDocument/2006/relationships/image" Target="../media/image43.png"/><Relationship Id="rId1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48.svg"/><Relationship Id="rId6" Type="http://schemas.openxmlformats.org/officeDocument/2006/relationships/image" Target="../media/image45.png"/><Relationship Id="rId5" Type="http://schemas.openxmlformats.org/officeDocument/2006/relationships/image" Target="../media/image47.svg"/><Relationship Id="rId4" Type="http://schemas.openxmlformats.org/officeDocument/2006/relationships/image" Target="../media/image44.png"/><Relationship Id="rId3" Type="http://schemas.openxmlformats.org/officeDocument/2006/relationships/image" Target="../media/image46.svg"/><Relationship Id="rId2" Type="http://schemas.openxmlformats.org/officeDocument/2006/relationships/image" Target="../media/image43.png"/><Relationship Id="rId1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image" Target="../media/image6.sv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9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svg"/><Relationship Id="rId2" Type="http://schemas.openxmlformats.org/officeDocument/2006/relationships/image" Target="../media/image56.pn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svg"/><Relationship Id="rId8" Type="http://schemas.openxmlformats.org/officeDocument/2006/relationships/image" Target="../media/image61.png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6.svg"/><Relationship Id="rId4" Type="http://schemas.openxmlformats.org/officeDocument/2006/relationships/image" Target="../media/image43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7" Type="http://schemas.openxmlformats.org/officeDocument/2006/relationships/notesSlide" Target="../notesSlides/notesSlide1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66.svg"/><Relationship Id="rId14" Type="http://schemas.openxmlformats.org/officeDocument/2006/relationships/image" Target="../media/image65.png"/><Relationship Id="rId13" Type="http://schemas.openxmlformats.org/officeDocument/2006/relationships/image" Target="../media/image25.svg"/><Relationship Id="rId12" Type="http://schemas.openxmlformats.org/officeDocument/2006/relationships/image" Target="../media/image45.png"/><Relationship Id="rId11" Type="http://schemas.openxmlformats.org/officeDocument/2006/relationships/image" Target="../media/image64.svg"/><Relationship Id="rId10" Type="http://schemas.openxmlformats.org/officeDocument/2006/relationships/image" Target="../media/image63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svg"/><Relationship Id="rId8" Type="http://schemas.openxmlformats.org/officeDocument/2006/relationships/image" Target="../media/image73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svg"/><Relationship Id="rId2" Type="http://schemas.openxmlformats.org/officeDocument/2006/relationships/image" Target="../media/image56.pn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43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25.svg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svg"/><Relationship Id="rId8" Type="http://schemas.openxmlformats.org/officeDocument/2006/relationships/image" Target="../media/image77.png"/><Relationship Id="rId7" Type="http://schemas.openxmlformats.org/officeDocument/2006/relationships/image" Target="../media/image70.svg"/><Relationship Id="rId6" Type="http://schemas.openxmlformats.org/officeDocument/2006/relationships/image" Target="../media/image69.png"/><Relationship Id="rId5" Type="http://schemas.openxmlformats.org/officeDocument/2006/relationships/image" Target="../media/image6.svg"/><Relationship Id="rId4" Type="http://schemas.openxmlformats.org/officeDocument/2006/relationships/image" Target="../media/image43.png"/><Relationship Id="rId3" Type="http://schemas.openxmlformats.org/officeDocument/2006/relationships/image" Target="../media/image25.svg"/><Relationship Id="rId2" Type="http://schemas.openxmlformats.org/officeDocument/2006/relationships/image" Target="../media/image45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图神经网络(GNN)：从基础到实战全解析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111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3365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Heebo"/>
                <a:ea typeface="Heebo"/>
                <a:cs typeface="Heebo"/>
                <a:sym typeface="Heebo"/>
              </a:rPr>
              <a:t>A Comprehensive Guide from Basics to Applications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4445000"/>
            <a:ext cx="1524000" cy="355600"/>
          </a:xfrm>
          <a:prstGeom prst="roundRect">
            <a:avLst>
              <a:gd name="adj" fmla="val 50000"/>
            </a:avLst>
          </a:prstGeom>
          <a:solidFill>
            <a:srgbClr val="64FFDA">
              <a:alpha val="15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前沿技术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508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9525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7500" y="1752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2032000" y="171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GNN核心定位与基础概念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2413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952500" y="2603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87500" y="2641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2032000" y="2603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GNN核心原理：消息传递机制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762000" y="3302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9525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87500" y="3530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20320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主流GNN模型家族详解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6350000" y="1524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5405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75500" y="1752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7620000" y="1714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GNN典型应用场景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6350000" y="2413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6540500" y="2603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175500" y="2641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7620000" y="2603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GNN完整工作流程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6350000" y="3302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65405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175500" y="3530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37"/>
            </p:custDataLst>
          </p:nvPr>
        </p:nvSpPr>
        <p:spPr>
          <a:xfrm>
            <a:off x="7620000" y="3492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GNN关键技术挑战与解决方案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38"/>
            </p:custDataLst>
          </p:nvPr>
        </p:nvSpPr>
        <p:spPr>
          <a:xfrm>
            <a:off x="6350000" y="41910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39"/>
            </p:custDataLst>
          </p:nvPr>
        </p:nvSpPr>
        <p:spPr>
          <a:xfrm>
            <a:off x="65405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175500" y="44196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>
            <p:custDataLst>
              <p:tags r:id="rId43"/>
            </p:custDataLst>
          </p:nvPr>
        </p:nvSpPr>
        <p:spPr>
          <a:xfrm>
            <a:off x="7620000" y="4381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总结与实战建议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81000" y="6413500"/>
            <a:ext cx="1143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 NEURAL NETWORKS: CONCEPTS, PRINCIPLES AND PRACTICE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651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184400" y="2413000"/>
            <a:ext cx="782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一、GNN核心定位与基础概念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330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55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POSITIONING AND BASIC CONCEPTS OF GNN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350000"/>
            <a:ext cx="12192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826000" y="6350000"/>
            <a:ext cx="2540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什么是图神经网络(GNN)？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一类专门处理图结构数据的深度学习模型，能够捕捉数据间的复杂关系。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11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6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0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683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学习图中节点、边或整个图的低维向量表示 (Embedding)，同时保留图的拓扑结构和特征信息。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89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数学表示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70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 = (V, E)，其中 V 代表节点集合 (Vertex)，E 代表边集合 (Edge)。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572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2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84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图结构示意 (Graph Structure)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2540000"/>
            <a:ext cx="762000" cy="762000"/>
          </a:xfrm>
          <a:prstGeom prst="ellipse">
            <a:avLst/>
          </a:prstGeom>
          <a:solidFill>
            <a:srgbClr val="64FFDA">
              <a:alpha val="1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2500" y="27305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144000" y="2540000"/>
            <a:ext cx="762000" cy="762000"/>
          </a:xfrm>
          <a:prstGeom prst="ellipse">
            <a:avLst/>
          </a:prstGeom>
          <a:solidFill>
            <a:srgbClr val="64FFDA">
              <a:alpha val="1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4500" y="27305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128000" y="3810000"/>
            <a:ext cx="762000" cy="762000"/>
          </a:xfrm>
          <a:prstGeom prst="ellipse">
            <a:avLst/>
          </a:prstGeom>
          <a:solidFill>
            <a:srgbClr val="64FFDA">
              <a:alpha val="1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4000500"/>
            <a:ext cx="381000" cy="381000"/>
          </a:xfrm>
          <a:prstGeom prst="rect">
            <a:avLst/>
          </a:prstGeom>
        </p:spPr>
      </p:pic>
      <p:cxnSp>
        <p:nvCxnSpPr>
          <p:cNvPr id="26" name="Connector 26"/>
          <p:cNvCxnSpPr/>
          <p:nvPr/>
        </p:nvCxnSpPr>
        <p:spPr>
          <a:xfrm rot="-34376">
            <a:off x="7874032" y="2914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" name="Connector 27"/>
          <p:cNvCxnSpPr/>
          <p:nvPr/>
        </p:nvCxnSpPr>
        <p:spPr>
          <a:xfrm rot="2265904">
            <a:off x="7403940" y="3549681"/>
            <a:ext cx="81319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" name="Connector 28"/>
          <p:cNvCxnSpPr/>
          <p:nvPr/>
        </p:nvCxnSpPr>
        <p:spPr>
          <a:xfrm rot="8426727">
            <a:off x="8800863" y="3549681"/>
            <a:ext cx="81319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" name="AutoShape 29"/>
          <p:cNvSpPr/>
          <p:nvPr/>
        </p:nvSpPr>
        <p:spPr>
          <a:xfrm>
            <a:off x="6477000" y="495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通过聚合邻居信息更新节点状态，从而学习全局特征。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图数据的核心挑战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651000"/>
          <a:ext cx="9906000" cy="3860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064000"/>
                <a:gridCol w="3556000"/>
              </a:tblGrid>
              <a:tr h="5588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核心挑战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数据特征描述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64FFD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传统模型局限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>
                        <a:alpha val="15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非欧几里得结构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节点连接不规则，无固定网格，空间关系复杂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CNN无法定义标准卷积核，难以捕捉局部特征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64F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关系型表示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强调实体间关系而非仅实体属性，结构信息关键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普通MLP忽略结构信息，仅处理独立特征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结构多样性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包含有向/无向、同构/异构、静态/动态等多种类型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单一模型难以适配所有场景，泛化能力受限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规模庞大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百万级甚至亿级节点/边（如社交网络、知识图谱）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全图计算复杂度极高，难以满足实时性需求</a:t>
                      </a:r>
                      <a:endParaRPr lang="en-US" sz="1100"/>
                    </a:p>
                  </a:txBody>
                  <a:tcPr marL="1905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36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66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二、GNN核心原理：消息传递机制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393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 PASSING MECHANISM IN GRAPH NEURAL NETWORKS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GNN的本质：消息传递(Message Passing)范式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收集消息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节点通过聚合函数 (AGGREGATE) 收集其邻居节点的特征信息。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更新表示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节点根据收集到的邻居信息与自身状态，通过更新函数 (UPDATE) 迭代特征。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多轮迭代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413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通过多层网络的堆叠，节点特征可以捕捉到 k-hop 范围内的全局信息。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127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数学表达 (Mathematical Formulation)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50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1" u="none" strike="noStrik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hᵏ⁺¹ᵘ = σ(∑(Wᵣ·hᵏᵥ + bᵣ) + W₀·hᵏᵘ)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92F">
                  <a:alpha val="10000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0A192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spc="40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2794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主流GNN模型家族详解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393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 DIVE INTO GNN MODEL FAMILIES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5080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基础GNN模型：GCN &amp; GAT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1435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828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5748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图卷积网络 (GCN)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9629">
            <a:off x="1066809" y="2330450"/>
            <a:ext cx="45339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66800" y="2463800"/>
            <a:ext cx="4533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核心贡献：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将谱域卷积简化为空间域局部聚合，建立了深度学习在图结构上的基础范式。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1066800" y="3175000"/>
            <a:ext cx="453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计算高效，线性复杂度，非常适合节点分类任务。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1066800" y="3759200"/>
            <a:ext cx="453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仅适用于无向图，且默认邻居节点同等重要，忽略边类型。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286500" y="1524000"/>
            <a:ext cx="51435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1300" y="1828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7099300" y="1803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图注意力网络 (GAT)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6"/>
            </p:custDataLst>
          </p:nvPr>
        </p:nvCxnSpPr>
        <p:spPr>
          <a:xfrm rot="-9629">
            <a:off x="6591309" y="2330450"/>
            <a:ext cx="45339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6591300" y="2463800"/>
            <a:ext cx="4533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引入自注意力机制，为不同邻居节点动态分配不同权重，无需人工干预。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6591300" y="3175000"/>
            <a:ext cx="453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自适应学习邻居重要性，支持处理异构图和有向图。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6591300" y="3759200"/>
            <a:ext cx="4533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局限：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计算复杂度相对较高，训练时对内存和算力要求更高。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6800" y="5689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58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GCN奠定了图神经网络的基础，GAT通过注意力机制提升了模型的表达能力和适应性。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关系感知GNN：关系图卷积网络(RGCN)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在处理知识图谱等多关系图数据时，传统GCN难以区分不同关系的影响。RGCN通过引入关系特定的变换和参数共享机制，有效解决了这一问题，成为处理异构图数据的经典模型。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175000"/>
            <a:ext cx="1524000" cy="1524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5842000" y="1397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1714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731000" y="152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关系特定权重 (Relation-Specific Weights)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731000" y="190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为每种关系类型 r 分配独立的权重矩阵 Wᵣ，精准建模不同关系对节点特征的影响。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5842000" y="2667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0" y="2984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731000" y="279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参数共享机制 (Parameter Sharing)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731000" y="317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通过基分解 (Basis Decomposition) 或块分解减少参数量，防止模型过拟合。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5842000" y="3937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6000" y="4254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731000" y="406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自环与反向关系 (Self-loops &amp; Inverse)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731000" y="444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显式添加自环边和反向关系边，增强模型对有向图结构的表达能力。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58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代码实现对应：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921000" y="558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RGCNBasisLayer</a:t>
            </a:r>
            <a:r>
              <a:rPr lang="en-US" sz="16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(基分解) /</a:t>
            </a: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RGCNBlockLayer</a:t>
            </a:r>
            <a:r>
              <a:rPr lang="en-US" sz="16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(块分解) /</a:t>
            </a: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UnionRGCNLayer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54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400">
                <a:solidFill>
                  <a:srgbClr val="64FFDA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2984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四、GNN典型应用场景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 NEURAL NETWORKS APPLICATIONS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知识图谱领域应用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51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链接预测 (Link Prediction)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095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核心任务：预测知识图谱中缺失的三元组 (h, r, t)，是 RGCN 的关键应用场景。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2476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评估指标：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MRR (平均倒数排名)、Hits@1 / Hits@3 / Hits@10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代码对应：</a:t>
            </a:r>
            <a:r>
              <a:rPr lang="en-US" sz="1400" b="0" i="0" u="none" strike="noStrike">
                <a:solidFill>
                  <a:srgbClr val="64FFD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get_total_rank(), filter_score()</a:t>
            </a:r>
            <a:endParaRPr lang="en-US" sz="1400" b="0" i="0" u="none" strike="noStrike">
              <a:solidFill>
                <a:srgbClr val="64FFD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93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实体分类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对图谱中的实体进行类型预判与归类。例如：识别“姚明”的实体类型为“运动员”。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683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93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关系抽取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44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从非结构化文本中自动提取实体间的语义关系，用于构建或补全知识图谱网络。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知识图谱领域应用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651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链接预测 (Link Prediction)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095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核心任务：预测知识图谱中缺失的三元组 (h, r, t)，是 RGCN 的关键应用场景。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24765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评估指标：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MRR (平均倒数排名)、Hits@1 / Hits@3 / Hits@10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代码对应：</a:t>
            </a:r>
            <a:r>
              <a:rPr lang="en-US" sz="1400" b="0" i="0" u="none" strike="noStrike">
                <a:solidFill>
                  <a:srgbClr val="64FFD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get_total_rank(), filter_score()</a:t>
            </a:r>
            <a:endParaRPr lang="en-US" sz="1400" b="0" i="0" u="none" strike="noStrike">
              <a:solidFill>
                <a:srgbClr val="64FFDA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93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实体分类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对图谱中的实体进行类型预判与归类。例如：识别“姚明”的实体类型为“运动员”。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683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93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关系抽取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44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从非结构化文本中自动提取实体间的语义关系，用于构建或补全知识图谱网络。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其他核心应用场景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社交网络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2159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应用于节点分类、社区检测以及基于图结构的好友推荐算法，提升社交关系挖掘效率。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778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239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生物医疗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0" y="2159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在分子性质预测、蛋白质结构预测及疾病传播路径预测等方面发挥关键作用。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387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金融科技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651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利用图神经网络进行复杂的欺诈交易检测与团伙挖掘，以及精准的个人信用风险评估。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937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3873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推荐系统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239000" y="4318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结合知识图谱与异构信息网络，实现可解释性更强、准确率更高的个性化推荐。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图神经网络 (GNN) 打破了传统数据处理的局限，在非欧几里得数据领域展现出强大的建模能力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15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GNN完整工作流程（以链接预测为例）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556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381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从数据准备到模型评估的全链路解析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826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数据准备与模型训练阶段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数据准备阶段 (Data Preparation)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数据集加载：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RGCNLinkDataset 加载图谱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857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图构建：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build_sub_graph 构建子图结构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349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答案预处理：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load_all_answers 加载真实标签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42000" y="3048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1524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858000" y="171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模型训练阶段 (Model Training)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58000" y="2286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模型初始化：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实例化 BaseRGCN 基础模型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58000" y="2921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02500" y="2857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前向传播：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逐层执行 RGCN 卷积计算节点嵌入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858000" y="355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349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损失计算：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采用负采样损失优化模型参数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4FFD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通过标准化的数据处理与严谨的模型训练流程，确保图谱推理任务的高效执行与精度提升。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模型评估阶段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9900" y="190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预测分数计算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048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模型输出所有实体的预测分数矩阵，为后续评估提供数据基础。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0400" y="190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619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答案过滤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048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filter_score() 屏蔽已知真实答案，避免高估模型实际性能。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900" y="190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3500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排名计算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048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sort_and_rank() 对分数排序，精确计算真实答案在预测结果中的排名。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1651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31400" y="1905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80500" y="2540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指标统计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048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stat_ranks() 输出 MRR、Hits@k 等关键指标，完成模型性能评估。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4FFDA">
                  <a:alpha val="0"/>
                </a:srgbClr>
              </a:gs>
              <a:gs pos="50000">
                <a:srgbClr val="64FFDA">
                  <a:alpha val="100000"/>
                </a:srgbClr>
              </a:gs>
              <a:gs pos="100000">
                <a:srgbClr val="64FFDA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5842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03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40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06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2540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GNN关键技术挑战与解决方案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从过平滑问题到大规模图训练，探索图神经网络的前沿突破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826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核心挑战与解决方案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651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过平滑问题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14500" y="2095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深层GNN中节点嵌入趋同，导致模型表达能力下降。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95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引入残差连接、层归一化或注意力机制来保留节点特征差异。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9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3302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计算复杂度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3746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标准GNN在处理大规模图数据时，时间与空间复杂度极高。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746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采用节点采样、子图划分技术或稀疏矩阵优化算法提升效率。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43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14500" y="4953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关系爆炸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14500" y="5397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知识图谱中关系类型过多，导致模型参数急剧膨胀。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5397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利用参数共享、关系嵌入表示或注意力机制减少参数量。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spc="40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CHAPTER 07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2794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七、总结与实战建议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64FFD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393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SUMMARY AND PRACTICAL SUGGESTIONS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609600"/>
            <a:ext cx="29337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核心要点总结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7957">
            <a:off x="609607" y="1136650"/>
            <a:ext cx="5486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4FFD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609600" y="1397000"/>
            <a:ext cx="5461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1638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524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GNN 核心机制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本质是通过消息传递聚合邻居节点信息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" y="2476500"/>
            <a:ext cx="5461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2717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603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知识图谱主流模型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RGCN (关系图卷积网络) 是当前的主流选择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" y="3556000"/>
            <a:ext cx="5461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" y="3797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683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链接预测关键步骤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必须进行答案过滤以排除已知事实，确保评估准确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" y="4635500"/>
            <a:ext cx="5461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800" y="4876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7625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高效开发工具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DGL 框架极大简化了 GNN 的开发与部署流程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731000" y="2159000"/>
            <a:ext cx="4318000" cy="2540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64FFDA">
                  <a:alpha val="10000"/>
                </a:srgbClr>
              </a:gs>
              <a:gs pos="100000">
                <a:srgbClr val="0A192F">
                  <a:alpha val="60000"/>
                </a:srgbClr>
              </a:gs>
            </a:gsLst>
            <a:lin ang="2700000"/>
          </a:gradFill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5200" y="2413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1115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3746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期待与您深入交流 GNN 技术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1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7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8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19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0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1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2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3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4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5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6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7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8.xml><?xml version="1.0" encoding="utf-8"?>
<p:tagLst xmlns:p="http://schemas.openxmlformats.org/presentationml/2006/main">
  <p:tag name="KSO_WM_DIAGRAM_VIRTUALLY_FRAME" val="{&quot;height&quot;:270,&quot;left&quot;:60,&quot;top&quot;:120,&quot;width&quot;:840}"/>
</p:tagLst>
</file>

<file path=ppt/tags/tag29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0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1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2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3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4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5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6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7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8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39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40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41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42.xml><?xml version="1.0" encoding="utf-8"?>
<p:tagLst xmlns:p="http://schemas.openxmlformats.org/presentationml/2006/main">
  <p:tag name="KSO_WM_DIAGRAM_VIRTUALLY_FRAME" val="{&quot;height&quot;:280,&quot;left&quot;:60,&quot;top&quot;:120,&quot;width&quot;:840}"/>
</p:tagLst>
</file>

<file path=ppt/tags/tag43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4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5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6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7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8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49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50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51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52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53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ags/tag54.xml><?xml version="1.0" encoding="utf-8"?>
<p:tagLst xmlns:p="http://schemas.openxmlformats.org/presentationml/2006/main">
  <p:tag name="KSO_WM_DIAGRAM_VIRTUALLY_FRAME" val="{&quot;height&quot;:290,&quot;left&quot;:460,&quot;top&quot;:110,&quot;width&quot;:4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3324</Words>
  <Application>WPS 演示</Application>
  <PresentationFormat/>
  <Paragraphs>314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Heebo</vt:lpstr>
      <vt:lpstr>Times New Roman</vt:lpstr>
      <vt:lpstr>Source Code Pro</vt:lpstr>
      <vt:lpstr>微软雅黑</vt:lpstr>
      <vt:lpstr>Arial Unicode MS</vt:lpstr>
      <vt:lpstr>Consolas</vt:lpstr>
      <vt:lpstr>Consolas</vt:lpstr>
      <vt:lpstr>Heebo</vt:lpstr>
      <vt:lpstr>Source Code Pro</vt:lpstr>
      <vt:lpstr>Times New Roman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小穆</cp:lastModifiedBy>
  <cp:revision>1</cp:revision>
  <dcterms:created xsi:type="dcterms:W3CDTF">2026-03-24T14:23:57Z</dcterms:created>
  <dcterms:modified xsi:type="dcterms:W3CDTF">2026-03-24T14:23:57Z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28D90296D2FE42F5B1842FD9BC428834_12</vt:lpwstr>
  </property>
</Properties>
</file>