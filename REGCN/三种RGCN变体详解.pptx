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2.svg" ContentType="image/svg+xml"/>
  <Override PartName="/ppt/media/image54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大家好，今天我将为大家详细讲解三种基于DGL实现的关系图卷积网络（RGCN）变体，分别是RGCNBasisLayer、RGCNBlockLayer和UnionRGCNLayer。我们将深入探讨它们的核心原理、代码实现以及各自的适用场景。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六个部分。首先，我们会回顾RGCN的基本概念和它面临的参数爆炸问题。接着，会对三种变体进行一个总体的对比介绍。然后，我们将逐一深入剖析每种变体的原理和代码。最后，进行总结和对比，帮助大家快速掌握它们的核心区别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正式讲解三种变体之前，我们先简单回顾一下RGCN的背景。RGCN是处理异构图的利器，但它有一个致命问题：当关系数量很多时，模型参数会爆炸式增长。为了解决这个问题，研究者们提出了参数分解的思想，我们今天要讲的前两种变体，正是基于这一思想的具体实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表格清晰地展示了我们今天要讨论的三种RGCN变体的核心区别。RGCNBasisLayer是最经典的基分解方法，参数量中等。RGCNBlockLayer采用块分解，参数量更小，适合大规模数据。而UnionRGCNLayer则是一个融合了多种改进技术的增强版，适用于更复杂的工业级场景。接下来，我们将逐一详细解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RGCNBasisLayer，它采用了经典的基分解技术。大家可以看右边的示意图，我们不再为每一种关系单独训练一个权重，而是训练几个基础的“基”，然后用这些基来组合出所有关系的权重。这样一来，当关系数量很多时，模型的参数量就能得到有效控制。这是一种非常优雅且有效的解决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RGCNBasisLayer的核心代码片段。代码首先定义了基矩阵和组合系数。在模型前向传播时，它会动态地将基矩阵和组合系数相乘，生成所有关系的权重。然后，在消息传递过程中，每条边都会根据自己的类型ID，找到对应的权重，与源节点的特征进行矩阵乘法，从而完成消息的计算和传递。这个过程很好地体现了基分解的思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RGCNBlockLayer，它采用了更激进的块分解方法。如右图所示，它将一个大的权重矩阵直接切成了许多小块。每个关系的权重不再是基的组合，而是由这些小块拼接而成。这种方法能将参数量直接减少为原来的1/B，其中B是分块的数量。这使得它在处理高维特征和大规模数据时，效率非常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段代码展示了块分解的具体实现。权重的定义方式就体现了分块思想。在消息函数中，关键步骤是将权重和节点特征都重塑为分块的维度，然后进行高效的批量矩阵乘法，最后再将结果合并。这种操作避免了大矩阵的直接运算，极大地提升了计算效率和降低了内存消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最后我们来看UnionRGCNLayer，这是一个融合了多种改进技术的增强版本。它不仅仅是简单的参数分解，而是从多个方面对RGCN进行了优化。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它融合了关系嵌入来更好地表达边的语义，加入了自环连接来保留节点自身信息，还引入了残差连接来解决深层训练的问题。这些改进让它更适合处理复杂的工业级任务。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UnionRGCNLayer最核心的创新点在于它处理消息的方式。如右图所示，它不再使用矩阵乘法，而是将源节点的特征和边的关系嵌入直接相加。这种方式更直观地融合了节点和关系的信息，让模型能够更好地理解图中的语义。这段代码清晰地展示了这一过程，先相加再进行一次线性变换，生成最终的消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对今天讲的三种RGCN变体做一个总结。RGCNBasisLayer是经典的选择，平衡了性能和复杂度。RGCNBlockLayer是追求极致效率的选择，特别适合大规模数据。而UnionRGCNLayer则是功能最全面的增强版，适合处理复杂的、需要深层建模的实际业务问题。希望通过这次分享，大家能对这三种变体有一个清晰的认识，并能根据自己的需求选择合适的模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我的分享到此结束，感谢大家的观看。现在是问答环节，大家有什么问题可以随时提出。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13.svg"/><Relationship Id="rId12" Type="http://schemas.openxmlformats.org/officeDocument/2006/relationships/image" Target="../media/image12.png"/><Relationship Id="rId11" Type="http://schemas.openxmlformats.org/officeDocument/2006/relationships/image" Target="../media/image11.svg"/><Relationship Id="rId10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svg"/><Relationship Id="rId8" Type="http://schemas.openxmlformats.org/officeDocument/2006/relationships/image" Target="../media/image20.png"/><Relationship Id="rId7" Type="http://schemas.openxmlformats.org/officeDocument/2006/relationships/image" Target="../media/image19.svg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27.svg"/><Relationship Id="rId14" Type="http://schemas.openxmlformats.org/officeDocument/2006/relationships/image" Target="../media/image26.png"/><Relationship Id="rId13" Type="http://schemas.openxmlformats.org/officeDocument/2006/relationships/image" Target="../media/image25.svg"/><Relationship Id="rId12" Type="http://schemas.openxmlformats.org/officeDocument/2006/relationships/image" Target="../media/image24.png"/><Relationship Id="rId11" Type="http://schemas.openxmlformats.org/officeDocument/2006/relationships/image" Target="../media/image23.svg"/><Relationship Id="rId10" Type="http://schemas.openxmlformats.org/officeDocument/2006/relationships/image" Target="../media/image2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4.jpeg"/><Relationship Id="rId7" Type="http://schemas.openxmlformats.org/officeDocument/2006/relationships/image" Target="../media/image33.svg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5.svg"/><Relationship Id="rId6" Type="http://schemas.openxmlformats.org/officeDocument/2006/relationships/image" Target="../media/image14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3.jpeg"/><Relationship Id="rId7" Type="http://schemas.openxmlformats.org/officeDocument/2006/relationships/image" Target="../media/image42.svg"/><Relationship Id="rId6" Type="http://schemas.openxmlformats.org/officeDocument/2006/relationships/image" Target="../media/image41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7.svg"/><Relationship Id="rId6" Type="http://schemas.openxmlformats.org/officeDocument/2006/relationships/image" Target="../media/image46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svg"/><Relationship Id="rId8" Type="http://schemas.openxmlformats.org/officeDocument/2006/relationships/image" Target="../media/image48.png"/><Relationship Id="rId7" Type="http://schemas.openxmlformats.org/officeDocument/2006/relationships/image" Target="../media/image5.svg"/><Relationship Id="rId6" Type="http://schemas.openxmlformats.org/officeDocument/2006/relationships/image" Target="../media/image4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0.jpe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1905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三种RGCN变体详解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2794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r="2700000" algn="tl" rotWithShape="0">
              <a:srgbClr val="00BFFF">
                <a:alpha val="6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3048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基于DGL的关系图卷积网络实现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5334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演讲者：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" y="508000"/>
            <a:ext cx="254000" cy="25400"/>
          </a:xfrm>
          <a:prstGeom prst="roundRect">
            <a:avLst>
              <a:gd name="adj" fmla="val 0"/>
            </a:avLst>
          </a:prstGeom>
          <a:solidFill>
            <a:srgbClr val="00B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08000" y="508000"/>
            <a:ext cx="25400" cy="254000"/>
          </a:xfrm>
          <a:prstGeom prst="roundRect">
            <a:avLst>
              <a:gd name="adj" fmla="val 0"/>
            </a:avLst>
          </a:prstGeom>
          <a:solidFill>
            <a:srgbClr val="00B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1430000" y="6324600"/>
            <a:ext cx="254000" cy="25400"/>
          </a:xfrm>
          <a:prstGeom prst="roundRect">
            <a:avLst>
              <a:gd name="adj" fmla="val 0"/>
            </a:avLst>
          </a:prstGeom>
          <a:solidFill>
            <a:srgbClr val="00B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1658600" y="6096000"/>
            <a:ext cx="25400" cy="254000"/>
          </a:xfrm>
          <a:prstGeom prst="roundRect">
            <a:avLst>
              <a:gd name="adj" fmla="val 0"/>
            </a:avLst>
          </a:prstGeom>
          <a:solidFill>
            <a:srgbClr val="00B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558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87500" y="18034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背景介绍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87500" y="21844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RGCN与参数爆炸问题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1651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19558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175500" y="18034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三种RGCN变体总览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175500" y="21844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核心技术与适用场景对比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28575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1623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87500" y="30099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RGCNBasisLayer详解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587500" y="33909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经典基分解方法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28575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31623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175500" y="30099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RGCNBlockLayer详解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175500" y="33909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高效块分解方法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064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43688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587500" y="42164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UnionRGCNLayer详解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587500" y="45974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融合改进的增强版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50000" y="4064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4368800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175500" y="42164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总结与对比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175500" y="45974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三者核心区别速览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0" y="6096000"/>
            <a:ext cx="1219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图神经网络 (GNN) 系列分享 · RGCN 专题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905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背景介绍：RGCN与参数爆炸问题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95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032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RGCN 核心概念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2413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处理多关系异构图的GNN，为每种边类型分配独立权重矩阵，实现差异化消息传递。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175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365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302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核心痛点：参数爆炸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24000" y="3683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关系数量过多时，独立矩阵导致参数量剧增，引发训练困难与严重的过拟合风险。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445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635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572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关键方案：参数分解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524000" y="4953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引入基分解(Basis)与块分解(Block)技术，通过参数共享大幅降低模型复杂度。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1905000"/>
            <a:ext cx="4572000" cy="2413000"/>
          </a:xfrm>
          <a:prstGeom prst="roundRect">
            <a:avLst>
              <a:gd name="adj" fmla="val 5263"/>
            </a:avLst>
          </a:prstGeom>
          <a:solidFill>
            <a:srgbClr val="00BFFF">
              <a:alpha val="8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77000" y="2032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模型优化逻辑示意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31000" y="2603500"/>
            <a:ext cx="609600" cy="609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527800" y="33020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多关系输入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47000" y="2705100"/>
            <a:ext cx="406400" cy="406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82000" y="2603500"/>
            <a:ext cx="609600" cy="609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178800" y="33020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矩阵分解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98000" y="2705100"/>
            <a:ext cx="406400" cy="4064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033000" y="2603500"/>
            <a:ext cx="609600" cy="609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829800" y="33020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轻量模型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4092">
            <a:off x="762004" y="583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762000" y="5969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图神经网络 (GNN) 进阶系列 · RGCN 变体解析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402336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三种RGCN变体总览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14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10668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762000" y="2032000"/>
          <a:ext cx="10668000" cy="3175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2794000"/>
                <a:gridCol w="1524000"/>
                <a:gridCol w="4064000"/>
              </a:tblGrid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层名称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核心技术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参数量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适用场景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0B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RGCNBasisLayer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基分解 (Basis Decomposition)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经典RGCN、中等规模异构图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0B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RGCNBlockLayer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块分解 (Block Decomposition)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极小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高维特征、大规模异构图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0B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UnionRGCNLayer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关系嵌入融合 + 残差 + 自环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适中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知识图谱、深层网络、工业级任务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>
            <a:off x="762000" y="5588000"/>
            <a:ext cx="10668000" cy="508000"/>
          </a:xfrm>
          <a:prstGeom prst="roundRect">
            <a:avLst>
              <a:gd name="adj" fmla="val 12500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57150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5689600"/>
            <a:ext cx="990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总结：Block分解在大规模场景下效率最优，而Union融合了多种改进机制，更适合复杂的工业级知识图谱任务。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C1428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RGCNBasisLayer：经典基分解RGCN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84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7780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核心思想：线性组合生成权重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2159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不为每个关系单独学习权重，而是学习少量“基矩阵”，所有关系权重由基矩阵线性组合生成。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984500"/>
            <a:ext cx="584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175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1115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参数计算：大幅降低参数量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24000" y="34925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传统：R·d_in·d_out | 基分解：B·d_in·d_out + R·B。当基数量 B 远小于关系数量 R 时，参数显著减少。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318000"/>
            <a:ext cx="584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508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4450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核心作用：解决参数爆炸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524000" y="4826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针对中等规模异构图，通过参数共享机制有效控制模型复杂度，是RGCN中最经典的优化方法。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0" y="1778000"/>
            <a:ext cx="3810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0BFF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747000" y="1854200"/>
            <a:ext cx="3556000" cy="2000250"/>
          </a:xfrm>
          <a:prstGeom prst="roundRect">
            <a:avLst>
              <a:gd name="adj" fmla="val 317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7620000" y="4064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基分解原理示意图：基矩阵线性组合生成关系矩阵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842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50A14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9550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RGCNBasisLayer：代码解析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07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2032000"/>
            <a:ext cx="4826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A995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1. 定义基权重矩阵和组合系数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self.weight = nn.Parameter(torch.Tensor(num_bases, in_feat, out_feat))</a:t>
            </a:r>
            <a:endParaRPr lang="en-US" sz="1300" b="0" i="0" u="none" strike="noStrike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 num_bases &lt; num_rels: self.w_comp = nn.Parameter(torch.Tensor(num_rels, num_bases))</a:t>
            </a:r>
            <a:endParaRPr lang="en-US" sz="1300" b="0" i="0" u="none" strike="noStrike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A995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2. 前向传播生成所有关系权重</a:t>
            </a:r>
            <a:endParaRPr lang="en-US" sz="1300" b="0" i="0" u="none" strike="noStrike">
              <a:solidFill>
                <a:srgbClr val="6A9955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weight = self.weight.view(num_bases, in_feat * out_feat)</a:t>
            </a:r>
            <a:endParaRPr lang="en-US" sz="1300" b="0" i="0" u="none" strike="noStrike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weight = torch.matmul(self.w_comp, weight).view(num_rels, in_feat, out_feat)</a:t>
            </a:r>
            <a:endParaRPr lang="en-US" sz="1300" b="0" i="0" u="none" strike="noStrike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A995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3. 消息传递：按边类型计算</a:t>
            </a:r>
            <a:endParaRPr lang="en-US" sz="1300" b="0" i="0" u="none" strike="noStrike">
              <a:solidFill>
                <a:srgbClr val="6A9955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 = weight.index_select(0, edges.data['type'])</a:t>
            </a:r>
            <a:endParaRPr lang="en-US" sz="1300" b="0" i="0" u="none" strike="noStrike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msg = torch.bmm(edges.src['h'].unsqueeze(1), w).squeeze()</a:t>
            </a:r>
            <a:endParaRPr lang="en-US" sz="1300" b="0" i="0" u="none" strike="noStrike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905000"/>
            <a:ext cx="5207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413500" y="2032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核心逻辑解读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3500" y="25400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731000" y="24892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参数初始化：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定义可学习的基权重矩阵和组合系数矩阵，解决关系数量过多导致的参数爆炸问题。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33020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731000" y="32512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动态组合：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前向传播时，通过矩阵乘法将基矩阵与组合系数结合，动态生成所有关系的最终权重。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40640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731000" y="40132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消息传递：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根据边的类型ID索引对应权重，与源节点特征进行批量矩阵乘法(BMM)，生成传递消息。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461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5651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RGCN Basis Decomposition 核心思想：通过基分解（Basis Decomposition）降低模型参数量，提升泛化能力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RGCNBlockLayer：高效块分解RGCN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609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003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095500"/>
            <a:ext cx="520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核心思想：矩阵分块重构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将高维权重矩阵分解为多个低维子矩阵(Block)，通过子矩阵拼接而非基矩阵线性组合来构建关系权重。</a:t>
            </a:r>
            <a:endParaRPr lang="en-US" sz="14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609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6703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3365500"/>
            <a:ext cx="520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参数计算：线性级压缩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假设分块数为B，参数量从 R·d_in·d_out 降至 R·d_in·d_out/B，直接减少为原来的 1/B，实现极致轻量化。</a:t>
            </a:r>
            <a:endParaRPr lang="en-US" sz="14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572000"/>
            <a:ext cx="609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9403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635500"/>
            <a:ext cx="520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核心作用：大规模场景适配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显著降低内存占用，特别适合处理高维特征向量和超大规模的异构图数据，提升训练与推理效率。</a:t>
            </a:r>
            <a:endParaRPr lang="en-US" sz="14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874000" y="2286000"/>
            <a:ext cx="3556000" cy="2000250"/>
          </a:xfrm>
          <a:prstGeom prst="roundRect">
            <a:avLst>
              <a:gd name="adj" fmla="val 6349"/>
            </a:avLst>
          </a:prstGeom>
          <a:noFill/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</a:ln>
          <a:effectLst>
            <a:outerShdw blurRad="190500" dir="2700000" algn="tl" rotWithShape="0">
              <a:srgbClr val="00BFFF">
                <a:alpha val="40000"/>
              </a:srgbClr>
            </a:outerShdw>
          </a:effectLst>
        </p:spPr>
      </p:pic>
      <p:sp>
        <p:nvSpPr>
          <p:cNvPr id="15" name="AutoShape 15"/>
          <p:cNvSpPr/>
          <p:nvPr/>
        </p:nvSpPr>
        <p:spPr>
          <a:xfrm>
            <a:off x="7874000" y="4445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块分解矩阵示意图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035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RGCNBlockLayer：代码解析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BFFF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524000"/>
            <a:ext cx="4826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1. 定义分块权重，参数是分块后的总参数量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self.weight = nn.Parameter(torch.Tensor(num_rels, num_bases * submat_in * submat_out))</a:t>
            </a:r>
            <a:endParaRPr lang="en-US" sz="1200" b="0" i="0" u="none" strike="noStrike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2. 消息函数：分块矩阵乘法</a:t>
            </a:r>
            <a:endParaRPr lang="en-US" sz="1200" b="0" i="0" u="none" strike="noStrike">
              <a:solidFill>
                <a:srgbClr val="64748B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def msg_func(edges):</a:t>
            </a:r>
            <a:endParaRPr lang="en-US" sz="1200" b="0" i="0" u="none" strike="noStrike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按边类型取权重并重塑为分块矩阵</a:t>
            </a:r>
            <a:endParaRPr lang="en-US" sz="1200" b="0" i="0" u="none" strike="noStrike">
              <a:solidFill>
                <a:srgbClr val="64748B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weight = self.weight.index_select(0, edges.data['type']).view(-1, submat_in, submat_out)</a:t>
            </a:r>
            <a:endParaRPr lang="en-US" sz="1200" b="0" i="0" u="none" strike="noStrike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源节点特征重塑为分块维度</a:t>
            </a:r>
            <a:endParaRPr lang="en-US" sz="1200" b="0" i="0" u="none" strike="noStrike">
              <a:solidFill>
                <a:srgbClr val="64748B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node = edges.src['h'].view(-1, 1, submat_in)</a:t>
            </a:r>
            <a:endParaRPr lang="en-US" sz="1200" b="0" i="0" u="none" strike="noStrike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批量矩阵乘法并重塑为输出维度</a:t>
            </a:r>
            <a:endParaRPr lang="en-US" sz="1200" b="0" i="0" u="none" strike="noStrike">
              <a:solidFill>
                <a:srgbClr val="64748B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msg = torch.bmm(node, weight).view(-1, out_feat)</a:t>
            </a:r>
            <a:endParaRPr lang="en-US" sz="1200" b="0" i="0" u="none" strike="noStrike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 {'msg': msg}</a:t>
            </a:r>
            <a:endParaRPr lang="en-US" sz="1200" b="0" i="0" u="none" strike="noStrike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397000"/>
            <a:ext cx="5207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413500" y="1524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核心逻辑解读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3500" y="2032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794500" y="19685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分块权重定义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权重形状直接反映分块思想，维度为“关系数 × 子矩阵总参数量”，大幅减少参数量。</a:t>
            </a:r>
            <a:endParaRPr lang="en-US" sz="12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2794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794500" y="27305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矩阵重塑与匹配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消息函数中，将权重按边类型取出，并将节点特征与权重统一重塑为分块维度，为乘法做准备。</a:t>
            </a:r>
            <a:endParaRPr lang="en-US" sz="12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3556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794500" y="34925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高效批量计算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 bmm 进行批量矩阵乘法，避免大矩阵直接运算，最后将结果拼接回完整维度，提升效率。</a:t>
            </a:r>
            <a:endParaRPr lang="en-US" sz="12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080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533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核心优势：通过块分解技术，显著降低内存消耗并提升图神经网络的计算效率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10668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UnionRGCNLayer：融合改进的增强版RGCN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14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工业级增强版RGCN，旨在解决深层训练、关系语义缺失、梯度消失等实际问题。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76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4384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融合关系嵌入 (Relation Embedding)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24000" y="2819400"/>
            <a:ext cx="419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不再使用固定权重矩阵，将节点特征与可学习的关系嵌入向量直接相加，灵活捕捉语义。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286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476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85000" y="24384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自环连接 (Self-loop)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985000" y="2819400"/>
            <a:ext cx="419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在消息传递中加入节点自身特征的变换，有效保留节点的固有原始信息。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7465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937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38989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跳跃连接 (Skip-connection)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524000" y="4279900"/>
            <a:ext cx="419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引入残差连接机制，解决深层网络训练中的梯度消失问题，支持模型堆叠更多层。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37465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3937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38989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融合WL图同构思想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985000" y="4279900"/>
            <a:ext cx="419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通过特定的线性变换增强图特征的表达能力，提升模型对复杂结构的捕捉能力。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461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105664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UnionRGCNLayer：核心创新点解析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核心创新：节点特征 + 关系嵌入融合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349500"/>
            <a:ext cx="533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8000"/>
              </a:lnSpc>
              <a:buClr>
                <a:srgbClr val="FFFFFF"/>
              </a:buClr>
              <a:buChar char="•"/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传统RGCN：消息由节点特征与关系权重矩阵相乘得到。</a:t>
            </a:r>
            <a:endParaRPr lang="en-US" sz="1100"/>
          </a:p>
          <a:p>
            <a:pPr marL="177800" indent="-177800" algn="l">
              <a:lnSpc>
                <a:spcPct val="108000"/>
              </a:lnSpc>
              <a:buClr>
                <a:srgbClr val="FFFFFF"/>
              </a:buClr>
              <a:buChar char="•"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UnionRGCN：消息直接由</a:t>
            </a:r>
            <a:r>
              <a:rPr lang="en-US" sz="14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源节点特征 + 关系嵌入向量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后线性变换。</a:t>
            </a:r>
            <a:endParaRPr lang="en-US" sz="14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8000"/>
              </a:lnSpc>
              <a:buClr>
                <a:srgbClr val="FFFFFF"/>
              </a:buClr>
              <a:buChar char="•"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优势：将关系语义直接融入传递过程，建模更灵活深入。</a:t>
            </a:r>
            <a:endParaRPr lang="en-US" sz="14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9370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代码实现体现 (PyTorch风格)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318000"/>
            <a:ext cx="5334000" cy="1397000"/>
          </a:xfrm>
          <a:prstGeom prst="roundRect">
            <a:avLst>
              <a:gd name="adj" fmla="val 9090"/>
            </a:avLst>
          </a:prstGeom>
          <a:solidFill>
            <a:srgbClr val="141E2D">
              <a:alpha val="8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89000" y="44450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C678DD"/>
                </a:solidFill>
                <a:latin typeface="Menlo"/>
                <a:ea typeface="Menlo"/>
                <a:cs typeface="Menlo"/>
                <a:sym typeface="Menlo"/>
              </a:rPr>
              <a:t>def</a:t>
            </a:r>
            <a:r>
              <a:rPr lang="en-US" sz="1200" b="0" i="0" u="none" strike="noStrike">
                <a:solidFill>
                  <a:srgbClr val="61AFEF"/>
                </a:solidFill>
                <a:latin typeface="Menlo"/>
                <a:ea typeface="Menlo"/>
                <a:cs typeface="Menlo"/>
                <a:sym typeface="Menlo"/>
              </a:rPr>
              <a:t>msg_func</a:t>
            </a:r>
            <a:r>
              <a:rPr lang="en-US" sz="1200" b="0" i="0" u="none" strike="noStrike">
                <a:solidFill>
                  <a:srgbClr val="DCDFE4"/>
                </a:solidFill>
                <a:latin typeface="Menlo"/>
                <a:ea typeface="Menlo"/>
                <a:cs typeface="Menlo"/>
                <a:sym typeface="Menlo"/>
              </a:rPr>
              <a:t>(self, edges):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DCDFE4"/>
                </a:solidFill>
                <a:latin typeface="Menlo"/>
                <a:ea typeface="Menlo"/>
                <a:cs typeface="Menlo"/>
                <a:sym typeface="Menlo"/>
              </a:rPr>
              <a:t>rel = self.rel_emb.index_select(0, edges.data[</a:t>
            </a:r>
            <a:r>
              <a:rPr lang="en-US" sz="1200" b="0" i="0" u="none" strike="noStrike">
                <a:solidFill>
                  <a:srgbClr val="98C379"/>
                </a:solidFill>
                <a:latin typeface="Menlo"/>
                <a:ea typeface="Menlo"/>
                <a:cs typeface="Menlo"/>
                <a:sym typeface="Menlo"/>
              </a:rPr>
              <a:t>'type'</a:t>
            </a:r>
            <a:r>
              <a:rPr lang="en-US" sz="1200" b="0" i="0" u="none" strike="noStrike">
                <a:solidFill>
                  <a:srgbClr val="DCDFE4"/>
                </a:solidFill>
                <a:latin typeface="Menlo"/>
                <a:ea typeface="Menlo"/>
                <a:cs typeface="Menlo"/>
                <a:sym typeface="Menlo"/>
              </a:rPr>
              <a:t>])</a:t>
            </a:r>
            <a:endParaRPr lang="en-US" sz="1200" b="0" i="0" u="none" strike="noStrike">
              <a:solidFill>
                <a:srgbClr val="DCDFE4"/>
              </a:solidFill>
              <a:latin typeface="Menlo"/>
              <a:ea typeface="Menlo"/>
              <a:cs typeface="Menlo"/>
              <a:sym typeface="Menlo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DCDFE4"/>
                </a:solidFill>
                <a:latin typeface="Menlo"/>
                <a:ea typeface="Menlo"/>
                <a:cs typeface="Menlo"/>
                <a:sym typeface="Menlo"/>
              </a:rPr>
              <a:t>node = edges.src[</a:t>
            </a:r>
            <a:r>
              <a:rPr lang="en-US" sz="1200" b="0" i="0" u="none" strike="noStrike">
                <a:solidFill>
                  <a:srgbClr val="98C379"/>
                </a:solidFill>
                <a:latin typeface="Menlo"/>
                <a:ea typeface="Menlo"/>
                <a:cs typeface="Menlo"/>
                <a:sym typeface="Menlo"/>
              </a:rPr>
              <a:t>'h'</a:t>
            </a:r>
            <a:r>
              <a:rPr lang="en-US" sz="1200" b="0" i="0" u="none" strike="noStrike">
                <a:solidFill>
                  <a:srgbClr val="DCDFE4"/>
                </a:solidFill>
                <a:latin typeface="Menlo"/>
                <a:ea typeface="Menlo"/>
                <a:cs typeface="Menlo"/>
                <a:sym typeface="Menlo"/>
              </a:rPr>
              <a:t>]</a:t>
            </a:r>
            <a:endParaRPr lang="en-US" sz="1200" b="0" i="0" u="none" strike="noStrike">
              <a:solidFill>
                <a:srgbClr val="DCDFE4"/>
              </a:solidFill>
              <a:latin typeface="Menlo"/>
              <a:ea typeface="Menlo"/>
              <a:cs typeface="Menlo"/>
              <a:sym typeface="Menlo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DCDFE4"/>
                </a:solidFill>
                <a:latin typeface="Menlo"/>
                <a:ea typeface="Menlo"/>
                <a:cs typeface="Menlo"/>
                <a:sym typeface="Menlo"/>
              </a:rPr>
              <a:t>msg = node + rel</a:t>
            </a:r>
            <a:r>
              <a:rPr lang="en-US" sz="1200" b="0" i="0" u="none" strike="noStrike">
                <a:solidFill>
                  <a:srgbClr val="5C6370"/>
                </a:solidFill>
                <a:latin typeface="Menlo"/>
                <a:ea typeface="Menlo"/>
                <a:cs typeface="Menlo"/>
                <a:sym typeface="Menlo"/>
              </a:rPr>
              <a:t># 核心：直接相加融合</a:t>
            </a:r>
            <a:endParaRPr lang="en-US" sz="1200" b="0" i="0" u="none" strike="noStrike">
              <a:solidFill>
                <a:srgbClr val="5C6370"/>
              </a:solidFill>
              <a:latin typeface="Menlo"/>
              <a:ea typeface="Menlo"/>
              <a:cs typeface="Menlo"/>
              <a:sym typeface="Menlo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Menlo"/>
                <a:ea typeface="Menlo"/>
                <a:cs typeface="Menlo"/>
                <a:sym typeface="Menlo"/>
              </a:rPr>
              <a:t>return</a:t>
            </a:r>
            <a:r>
              <a:rPr lang="en-US" sz="1200" b="0" i="0" u="none" strike="noStrike">
                <a:solidFill>
                  <a:srgbClr val="DCDFE4"/>
                </a:solidFill>
                <a:latin typeface="Menlo"/>
                <a:ea typeface="Menlo"/>
                <a:cs typeface="Menlo"/>
                <a:sym typeface="Menlo"/>
              </a:rPr>
              <a:t>{</a:t>
            </a:r>
            <a:r>
              <a:rPr lang="en-US" sz="1200" b="0" i="0" u="none" strike="noStrike">
                <a:solidFill>
                  <a:srgbClr val="98C379"/>
                </a:solidFill>
                <a:latin typeface="Menlo"/>
                <a:ea typeface="Menlo"/>
                <a:cs typeface="Menlo"/>
                <a:sym typeface="Menlo"/>
              </a:rPr>
              <a:t>'msg'</a:t>
            </a:r>
            <a:r>
              <a:rPr lang="en-US" sz="1200" b="0" i="0" u="none" strike="noStrike">
                <a:solidFill>
                  <a:srgbClr val="DCDFE4"/>
                </a:solidFill>
                <a:latin typeface="Menlo"/>
                <a:ea typeface="Menlo"/>
                <a:cs typeface="Menlo"/>
                <a:sym typeface="Menlo"/>
              </a:rPr>
              <a:t>: msg.mm(self.weight)}</a:t>
            </a:r>
            <a:endParaRPr lang="en-US" sz="1200" b="0" i="0" u="none" strike="noStrike">
              <a:solidFill>
                <a:srgbClr val="DCDFE4"/>
              </a:solidFill>
              <a:latin typeface="Menlo"/>
              <a:ea typeface="Menlo"/>
              <a:cs typeface="Menlo"/>
              <a:sym typeface="Menlo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858000" y="2032000"/>
            <a:ext cx="4064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985000" y="2159000"/>
            <a:ext cx="3810000" cy="2143125"/>
          </a:xfrm>
          <a:prstGeom prst="roundRect">
            <a:avLst>
              <a:gd name="adj" fmla="val 592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6858000" y="4572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图：节点特征与关系嵌入向量的融合过程示意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4092">
            <a:off x="762004" y="164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2514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总结与对比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62000" y="2032000"/>
          <a:ext cx="10668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2286000"/>
                <a:gridCol w="3048000"/>
                <a:gridCol w="3302000"/>
              </a:tblGrid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层名称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核心技术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核心优势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适用场景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</a:tr>
              <a:tr h="1016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RGCNBasisLayer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基分解 (Basis Decomposition)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经典、平衡、易于理解与实现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中等规模、关系类型适中的异构图数据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</a:tr>
              <a:tr h="1016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RGCNBlockLayer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块分解 (Block Decomposition)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极致轻量化、参数共享、计算效率极高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高维特征空间、超大规模异构图场景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</a:tr>
              <a:tr h="1016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UnionRGCNLayer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关系嵌入 + 残差连接 + 自环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表达能力强、训练稳定、适合深层网络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知识图谱推理、复杂业务逻辑、工业级应用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6096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143000" y="6096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图神经网络 (GNN) 变体技术选型指南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159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感谢观看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3048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cap="flat" cmpd="sng">
            <a:solidFill>
              <a:srgbClr val="00AC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3302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318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欢迎提出您的问题与建议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2800" y="4953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3208</Words>
  <Application>WPS 演示</Application>
  <PresentationFormat/>
  <Paragraphs>253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Arial</vt:lpstr>
      <vt:lpstr>Noto Sans SC</vt:lpstr>
      <vt:lpstr>Consolas</vt:lpstr>
      <vt:lpstr>Source Code Pro</vt:lpstr>
      <vt:lpstr>Segoe Print</vt:lpstr>
      <vt:lpstr>Menlo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小穆</cp:lastModifiedBy>
  <cp:revision>2</cp:revision>
  <dcterms:created xsi:type="dcterms:W3CDTF">2026-03-25T14:20:33Z</dcterms:created>
  <dcterms:modified xsi:type="dcterms:W3CDTF">2026-03-25T14:20:39Z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864B43CD06364B648566305567766E8C_12</vt:lpwstr>
  </property>
  <property fmtid="{D5CDD505-2E9C-101B-9397-08002B2CF9AE}" pid="3" name="KSOProductBuildVer">
    <vt:lpwstr>2052-12.1.0.25225</vt:lpwstr>
  </property>
</Properties>
</file>